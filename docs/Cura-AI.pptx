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2" r:id="rId7"/>
    <p:sldId id="264" r:id="rId8"/>
    <p:sldId id="265" r:id="rId9"/>
  </p:sldIdLst>
  <p:sldSz cx="14630400" cy="8229600"/>
  <p:notesSz cx="8229600" cy="14630400"/>
  <p:embeddedFontLst>
    <p:embeddedFont>
      <p:font typeface="Montserrat" charset="0"/>
      <p:regular r:id="rId11"/>
      <p:bold r:id="rId12"/>
    </p:embeddedFont>
    <p:embeddedFont>
      <p:font typeface="Calibri" pitchFamily="34" charset="0"/>
      <p:regular r:id="rId13"/>
      <p:bold r:id="rId14"/>
      <p:italic r:id="rId15"/>
      <p:boldItalic r:id="rId16"/>
    </p:embeddedFont>
    <p:embeddedFont>
      <p:font typeface="Heebo Light" charset="-79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3" d="100"/>
          <a:sy n="63" d="100"/>
        </p:scale>
        <p:origin x="-264" y="152"/>
      </p:cViewPr>
      <p:guideLst>
        <p:guide orient="horz" pos="2592"/>
        <p:guide pos="460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32030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80190" y="2745462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Cura AI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3794403"/>
            <a:ext cx="7556421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50"/>
              </a:lnSpc>
              <a:buNone/>
            </a:pPr>
            <a:r>
              <a:rPr lang="en-US" sz="22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 Safety-Aware Multi-Agent Healthcare Assistant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280190" y="4503063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Team Name: Aurix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6280190" y="5121116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Team Members: 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Rahul 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Kumar</a:t>
            </a:r>
            <a:endParaRPr lang="en-US" sz="1750" dirty="0"/>
          </a:p>
        </p:txBody>
      </p:sp>
      <p:pic>
        <p:nvPicPr>
          <p:cNvPr id="11" name="Picture 10" descr="A close up of a logo&#10;&#10;AI-generated content may be incorrect.">
            <a:extLst>
              <a:ext uri="{FF2B5EF4-FFF2-40B4-BE49-F238E27FC236}">
                <a16:creationId xmlns="" xmlns:a16="http://schemas.microsoft.com/office/drawing/2014/main" id="{10C30169-C956-D00C-5591-A8FDB1EE5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4555" y="7448441"/>
            <a:ext cx="2295845" cy="7811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69FEC825-95FE-A467-765A-B7CE18E8D9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94" y="2574117"/>
            <a:ext cx="4645477" cy="3091354"/>
          </a:xfrm>
          <a:prstGeom prst="ellipse">
            <a:avLst/>
          </a:prstGeom>
          <a:ln w="190500" cap="rnd">
            <a:solidFill>
              <a:srgbClr val="C8C6BD"/>
            </a:solidFill>
            <a:prstDash val="solid"/>
          </a:ln>
          <a:effectLst>
            <a:outerShdw blurRad="127000" algn="bl" rotWithShape="0">
              <a:srgbClr val="000000"/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79846" y="242244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PROBLEM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630436" y="3471386"/>
            <a:ext cx="5891570" cy="2335768"/>
          </a:xfrm>
          <a:prstGeom prst="roundRect">
            <a:avLst>
              <a:gd name="adj" fmla="val 6992"/>
            </a:avLst>
          </a:prstGeom>
          <a:solidFill>
            <a:srgbClr val="1A0033">
              <a:alpha val="9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7250" y="3698200"/>
            <a:ext cx="396752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Healthcare Information Gap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57250" y="4279344"/>
            <a:ext cx="5437942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Patients struggle to understand medical terminology, track medications safely, and assess drug interactions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6919674" y="3675459"/>
            <a:ext cx="6924437" cy="205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Complex medical reports are difficult to interpret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Medication management errors cause thousands of hospitalizations annually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Drug interactions often go undetected until it's too late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Patients need accessible, intelligent health guidance</a:t>
            </a:r>
            <a:endParaRPr lang="en-US" sz="1750" dirty="0"/>
          </a:p>
        </p:txBody>
      </p:sp>
      <p:pic>
        <p:nvPicPr>
          <p:cNvPr id="8" name="Picture 7" descr="A close up of a logo&#10;&#10;AI-generated content may be incorrect.">
            <a:extLst>
              <a:ext uri="{FF2B5EF4-FFF2-40B4-BE49-F238E27FC236}">
                <a16:creationId xmlns="" xmlns:a16="http://schemas.microsoft.com/office/drawing/2014/main" id="{1698C628-136D-6F16-603C-BCB795FCE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4555" y="7448441"/>
            <a:ext cx="2295845" cy="7811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79846" y="121908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SOLUTION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381488"/>
            <a:ext cx="2411968" cy="24119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5076944"/>
            <a:ext cx="4158615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Intelligent Symptom Guidance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0" y="5921693"/>
            <a:ext cx="41586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AI-powered chat agent provides personalized health explanations using contextual memory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5893" y="2381488"/>
            <a:ext cx="2411968" cy="24119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35893" y="5076944"/>
            <a:ext cx="4158615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Smart Medication Management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5235893" y="5921693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Automated reminders with built-in safety checks and drug interaction analysis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7995" y="2381488"/>
            <a:ext cx="2411968" cy="24119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677995" y="507694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Report Analysis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9677995" y="5567363"/>
            <a:ext cx="41586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OCR-based medical report processing that converts complex medical jargon into simple, understandable summaries</a:t>
            </a:r>
            <a:endParaRPr lang="en-US" sz="1750" dirty="0"/>
          </a:p>
        </p:txBody>
      </p:sp>
      <p:pic>
        <p:nvPicPr>
          <p:cNvPr id="13" name="Picture 12" descr="A close up of a logo&#10;&#10;AI-generated content may be incorrect.">
            <a:extLst>
              <a:ext uri="{FF2B5EF4-FFF2-40B4-BE49-F238E27FC236}">
                <a16:creationId xmlns="" xmlns:a16="http://schemas.microsoft.com/office/drawing/2014/main" id="{A4E59343-B130-46F5-BD66-40C9A60D40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34555" y="7372394"/>
            <a:ext cx="2295845" cy="7811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79467" y="250578"/>
            <a:ext cx="887146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E0BB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MULTI-AGENT ARCHITECTURE</a:t>
            </a:r>
            <a:endParaRPr lang="en-US" sz="4450" dirty="0"/>
          </a:p>
        </p:txBody>
      </p:sp>
      <p:pic>
        <p:nvPicPr>
          <p:cNvPr id="12" name="Picture 11" descr="A close up of a logo&#10;&#10;AI-generated content may be incorrect.">
            <a:extLst>
              <a:ext uri="{FF2B5EF4-FFF2-40B4-BE49-F238E27FC236}">
                <a16:creationId xmlns="" xmlns:a16="http://schemas.microsoft.com/office/drawing/2014/main" id="{1F977CF9-F0D4-9D91-4EBC-86B35A4DA1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8139" y="7381820"/>
            <a:ext cx="2295845" cy="781159"/>
          </a:xfrm>
          <a:prstGeom prst="rect">
            <a:avLst/>
          </a:prstGeom>
        </p:spPr>
      </p:pic>
      <p:pic>
        <p:nvPicPr>
          <p:cNvPr id="1026" name="Picture 2" descr="C:\Users\OM\Desktop\cura-ai\docs\flowchart2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8400" y="1134905"/>
            <a:ext cx="9753600" cy="650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655" y="1475779"/>
            <a:ext cx="689217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5550"/>
              </a:lnSpc>
            </a:pPr>
            <a:r>
              <a:rPr lang="en-US" sz="4450" b="1" dirty="0">
                <a:solidFill>
                  <a:schemeClr val="bg1"/>
                </a:solidFill>
              </a:rPr>
              <a:t>Core Intelligent Agents</a:t>
            </a:r>
          </a:p>
          <a:p>
            <a:pPr marL="0" indent="0" algn="ctr">
              <a:lnSpc>
                <a:spcPts val="5550"/>
              </a:lnSpc>
              <a:buNone/>
            </a:pP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538889"/>
            <a:ext cx="3090505" cy="2765227"/>
          </a:xfrm>
          <a:prstGeom prst="roundRect">
            <a:avLst>
              <a:gd name="adj" fmla="val 3445"/>
            </a:avLst>
          </a:prstGeom>
          <a:solidFill>
            <a:srgbClr val="330066"/>
          </a:solidFill>
          <a:ln w="7620">
            <a:solidFill>
              <a:srgbClr val="4C19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224" y="2773323"/>
            <a:ext cx="2621637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Coordinator Agent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28224" y="3618071"/>
            <a:ext cx="2621637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Routes user requests based on detected intent to appropriate specialized agents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4111109" y="2538889"/>
            <a:ext cx="3090624" cy="2765227"/>
          </a:xfrm>
          <a:prstGeom prst="roundRect">
            <a:avLst>
              <a:gd name="adj" fmla="val 3445"/>
            </a:avLst>
          </a:prstGeom>
          <a:solidFill>
            <a:srgbClr val="330066"/>
          </a:solidFill>
          <a:ln w="7620">
            <a:solidFill>
              <a:srgbClr val="4C19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45543" y="2773323"/>
            <a:ext cx="262175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Agent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345543" y="3263741"/>
            <a:ext cx="2621756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Handles symptom-related queries and general health questions with contextual memory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7428548" y="2538889"/>
            <a:ext cx="3090624" cy="2765227"/>
          </a:xfrm>
          <a:prstGeom prst="roundRect">
            <a:avLst>
              <a:gd name="adj" fmla="val 3445"/>
            </a:avLst>
          </a:prstGeom>
          <a:solidFill>
            <a:srgbClr val="330066"/>
          </a:solidFill>
          <a:ln w="7620">
            <a:solidFill>
              <a:srgbClr val="4C19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62982" y="2773323"/>
            <a:ext cx="262175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Reminder Agent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662982" y="3263741"/>
            <a:ext cx="2621756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Schedules medication reminders with risk-based gating and safety verification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10745986" y="2538889"/>
            <a:ext cx="3090624" cy="2765227"/>
          </a:xfrm>
          <a:prstGeom prst="roundRect">
            <a:avLst>
              <a:gd name="adj" fmla="val 3445"/>
            </a:avLst>
          </a:prstGeom>
          <a:solidFill>
            <a:srgbClr val="330066"/>
          </a:solidFill>
          <a:ln w="7620">
            <a:solidFill>
              <a:srgbClr val="4C19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80420" y="2773323"/>
            <a:ext cx="2621756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Drug Interaction Agent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980420" y="3618071"/>
            <a:ext cx="2621756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Analyzes medication combinations and classifies risk levels before scheduling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793790" y="5530929"/>
            <a:ext cx="13042821" cy="1322189"/>
          </a:xfrm>
          <a:prstGeom prst="roundRect">
            <a:avLst>
              <a:gd name="adj" fmla="val 7205"/>
            </a:avLst>
          </a:prstGeom>
          <a:solidFill>
            <a:srgbClr val="330066"/>
          </a:solidFill>
          <a:ln w="7620">
            <a:solidFill>
              <a:srgbClr val="4C197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8224" y="576536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Report Agent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028224" y="6255782"/>
            <a:ext cx="1257395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Uses Tesseract OCR to extract and simplify medical reports into layman-friendly explanations</a:t>
            </a:r>
            <a:endParaRPr lang="en-US" sz="1750" dirty="0"/>
          </a:p>
        </p:txBody>
      </p:sp>
      <p:pic>
        <p:nvPicPr>
          <p:cNvPr id="19" name="Picture 18" descr="A close up of a logo&#10;&#10;AI-generated content may be incorrect.">
            <a:extLst>
              <a:ext uri="{FF2B5EF4-FFF2-40B4-BE49-F238E27FC236}">
                <a16:creationId xmlns="" xmlns:a16="http://schemas.microsoft.com/office/drawing/2014/main" id="{14E8CDE9-42BC-1F6F-FBB8-3956912514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1298" y="7343538"/>
            <a:ext cx="2295845" cy="7811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3791513" y="1433168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Technology Stack</a:t>
            </a:r>
            <a:endParaRPr lang="en-US" sz="4450" dirty="0"/>
          </a:p>
        </p:txBody>
      </p:sp>
      <p:sp>
        <p:nvSpPr>
          <p:cNvPr id="5" name="Text 2"/>
          <p:cNvSpPr/>
          <p:nvPr/>
        </p:nvSpPr>
        <p:spPr>
          <a:xfrm>
            <a:off x="793790" y="29922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Backend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93790" y="3573423"/>
            <a:ext cx="6244709" cy="302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Flask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REST API framework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SQLite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Persistent memory storage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Groq LLM API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Large language model inference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Pytesseract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OCR for report 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analysis</a:t>
            </a:r>
          </a:p>
          <a:p>
            <a:pPr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V</a:t>
            </a:r>
            <a:r>
              <a:rPr lang="en-US" sz="1750" b="1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oice input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Web Speech 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API</a:t>
            </a:r>
          </a:p>
          <a:p>
            <a:pPr marL="342900" indent="-342900">
              <a:lnSpc>
                <a:spcPts val="2850"/>
              </a:lnSpc>
              <a:buSzPct val="100000"/>
              <a:buFontTx/>
              <a:buChar char="•"/>
            </a:pPr>
            <a:r>
              <a:rPr lang="en-US" sz="1750" b="1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Encryption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</a:t>
            </a:r>
            <a:r>
              <a:rPr lang="en-US" sz="1750" dirty="0" err="1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Fernet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Symmetric Encryption</a:t>
            </a:r>
          </a:p>
          <a:p>
            <a:pPr marL="342900" indent="-342900">
              <a:lnSpc>
                <a:spcPts val="2850"/>
              </a:lnSpc>
              <a:buSzPct val="100000"/>
              <a:buFontTx/>
              <a:buChar char="•"/>
            </a:pPr>
            <a:r>
              <a:rPr lang="en-US" sz="1750" b="1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Hashing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SHA256</a:t>
            </a:r>
            <a:endParaRPr lang="en-US" sz="1750" dirty="0">
              <a:solidFill>
                <a:srgbClr val="DCD7E5"/>
              </a:solidFill>
              <a:latin typeface="Heebo Light" pitchFamily="34" charset="0"/>
              <a:ea typeface="Heebo Light" pitchFamily="34" charset="-122"/>
              <a:cs typeface="Heebo Light" pitchFamily="34" charset="-120"/>
            </a:endParaRPr>
          </a:p>
          <a:p>
            <a:pPr marL="342900" indent="-342900">
              <a:lnSpc>
                <a:spcPts val="2850"/>
              </a:lnSpc>
              <a:buSzPct val="100000"/>
              <a:buFontTx/>
              <a:buChar char="•"/>
            </a:pPr>
            <a:r>
              <a:rPr lang="en-US" sz="1750" b="1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Access Control - 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Authentication</a:t>
            </a:r>
            <a:endParaRPr lang="en-US" sz="1750" dirty="0">
              <a:solidFill>
                <a:srgbClr val="DCD7E5"/>
              </a:solidFill>
              <a:latin typeface="Heebo Light" pitchFamily="34" charset="0"/>
              <a:ea typeface="Heebo Light" pitchFamily="34" charset="-122"/>
              <a:cs typeface="Heebo Light" pitchFamily="34" charset="-120"/>
            </a:endParaRPr>
          </a:p>
          <a:p>
            <a:pPr marL="342900" indent="-342900">
              <a:lnSpc>
                <a:spcPts val="2850"/>
              </a:lnSpc>
              <a:buSzPct val="100000"/>
              <a:buFontTx/>
              <a:buChar char="•"/>
            </a:pPr>
            <a:endParaRPr lang="en-US" sz="1750" dirty="0">
              <a:solidFill>
                <a:srgbClr val="DCD7E5"/>
              </a:solidFill>
              <a:latin typeface="Heebo Light" pitchFamily="34" charset="0"/>
              <a:ea typeface="Heebo Light" pitchFamily="34" charset="-122"/>
              <a:cs typeface="Heebo Light" pitchFamily="34" charset="-120"/>
            </a:endParaRPr>
          </a:p>
          <a:p>
            <a:pPr marL="342900" indent="-342900">
              <a:lnSpc>
                <a:spcPts val="2850"/>
              </a:lnSpc>
              <a:buSzPct val="100000"/>
              <a:buChar char="•"/>
            </a:pPr>
            <a:endParaRPr lang="en-US" sz="1750" dirty="0" smtClean="0">
              <a:solidFill>
                <a:srgbClr val="DCD7E5"/>
              </a:solidFill>
              <a:latin typeface="Heebo Light" pitchFamily="34" charset="0"/>
              <a:ea typeface="Heebo Light" pitchFamily="34" charset="-122"/>
              <a:cs typeface="Heebo Light" pitchFamily="34" charset="-120"/>
            </a:endParaRPr>
          </a:p>
        </p:txBody>
      </p:sp>
      <p:sp>
        <p:nvSpPr>
          <p:cNvPr id="7" name="Text 4"/>
          <p:cNvSpPr/>
          <p:nvPr/>
        </p:nvSpPr>
        <p:spPr>
          <a:xfrm>
            <a:off x="7599521" y="29922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Frontend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599521" y="3573423"/>
            <a:ext cx="6244709" cy="1247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HTML/CSS/JavaScript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Modern chat UI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 err="1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localStorage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Session management</a:t>
            </a:r>
          </a:p>
          <a:p>
            <a:pPr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b="1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Input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 - Voice and 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t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ext input</a:t>
            </a:r>
            <a:endParaRPr lang="en-US" sz="1750" b="1" dirty="0"/>
          </a:p>
        </p:txBody>
      </p:sp>
      <p:sp>
        <p:nvSpPr>
          <p:cNvPr id="9" name="Text 6"/>
          <p:cNvSpPr/>
          <p:nvPr/>
        </p:nvSpPr>
        <p:spPr>
          <a:xfrm>
            <a:off x="7599521" y="504753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Architecture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599521" y="5628680"/>
            <a:ext cx="6244709" cy="805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Custom multi-agent orchestration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Memory-augmented 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reasoning</a:t>
            </a:r>
          </a:p>
        </p:txBody>
      </p:sp>
      <p:pic>
        <p:nvPicPr>
          <p:cNvPr id="11" name="Picture 10" descr="A close up of a logo&#10;&#10;AI-generated content may be incorrect.">
            <a:extLst>
              <a:ext uri="{FF2B5EF4-FFF2-40B4-BE49-F238E27FC236}">
                <a16:creationId xmlns="" xmlns:a16="http://schemas.microsoft.com/office/drawing/2014/main" id="{43194B8D-F7C3-89D1-4003-BFD64C981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91298" y="7448441"/>
            <a:ext cx="2295845" cy="7811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66643"/>
            <a:ext cx="640627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Future Enhancements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191226"/>
            <a:ext cx="113348" cy="1133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33951" y="2070735"/>
            <a:ext cx="399157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Vector Database Integration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133951" y="2651879"/>
            <a:ext cx="726412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Enhanced semantic search and memory retrieval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588901"/>
            <a:ext cx="113348" cy="1133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33951" y="3468410"/>
            <a:ext cx="290095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PDF Report Support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1133951" y="4049554"/>
            <a:ext cx="726412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Expand beyond image-based OCR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4986576"/>
            <a:ext cx="113348" cy="1133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33951" y="4866084"/>
            <a:ext cx="371082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Clinical Evaluation Metrics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1133951" y="5447228"/>
            <a:ext cx="726412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Structured testing and model comparison</a:t>
            </a:r>
            <a:endParaRPr lang="en-US" sz="17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6384250"/>
            <a:ext cx="113348" cy="11334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33951" y="6263759"/>
            <a:ext cx="344209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Production Deployment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133951" y="6844903"/>
            <a:ext cx="726412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Docker containerization and scalable infrastructure</a:t>
            </a:r>
            <a:endParaRPr lang="en-US" sz="1750" dirty="0"/>
          </a:p>
        </p:txBody>
      </p:sp>
      <p:pic>
        <p:nvPicPr>
          <p:cNvPr id="18" name="Picture 17" descr="A close up of a logo&#10;&#10;AI-generated content may be incorrect.">
            <a:extLst>
              <a:ext uri="{FF2B5EF4-FFF2-40B4-BE49-F238E27FC236}">
                <a16:creationId xmlns="" xmlns:a16="http://schemas.microsoft.com/office/drawing/2014/main" id="{48DAC7D4-41B9-043C-71EF-DB0FAE9E0B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34555" y="7448441"/>
            <a:ext cx="2295845" cy="7811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112EEF91-64E1-9186-D28C-10FAF3B60C9A}"/>
              </a:ext>
            </a:extLst>
          </p:cNvPr>
          <p:cNvSpPr/>
          <p:nvPr/>
        </p:nvSpPr>
        <p:spPr>
          <a:xfrm>
            <a:off x="3258205" y="3383280"/>
            <a:ext cx="8113990" cy="731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80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</a:t>
            </a:r>
            <a:endParaRPr lang="en-US" sz="8000" dirty="0"/>
          </a:p>
        </p:txBody>
      </p:sp>
      <p:pic>
        <p:nvPicPr>
          <p:cNvPr id="4" name="Picture 3" descr="A close up of a logo&#10;&#10;AI-generated content may be incorrect.">
            <a:extLst>
              <a:ext uri="{FF2B5EF4-FFF2-40B4-BE49-F238E27FC236}">
                <a16:creationId xmlns="" xmlns:a16="http://schemas.microsoft.com/office/drawing/2014/main" id="{CB437485-7D72-C9EA-9F97-471A2B71ED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4875" y="7448550"/>
            <a:ext cx="2295525" cy="78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4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287</Words>
  <Application>Microsoft Office PowerPoint</Application>
  <PresentationFormat>Custom</PresentationFormat>
  <Paragraphs>64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Montserrat</vt:lpstr>
      <vt:lpstr>Calibri</vt:lpstr>
      <vt:lpstr>Heebo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lastModifiedBy>OM</cp:lastModifiedBy>
  <cp:revision>10</cp:revision>
  <dcterms:created xsi:type="dcterms:W3CDTF">2026-02-27T05:51:41Z</dcterms:created>
  <dcterms:modified xsi:type="dcterms:W3CDTF">2026-03-07T15:19:06Z</dcterms:modified>
</cp:coreProperties>
</file>