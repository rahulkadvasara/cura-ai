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</p:sldIdLst>
  <p:sldSz cx="14630400" cy="8229600"/>
  <p:notesSz cx="8229600" cy="14630400"/>
  <p:embeddedFontLst>
    <p:embeddedFont>
      <p:font typeface="Heebo Light" charset="-79"/>
      <p:regular r:id="rId11"/>
    </p:embeddedFon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Montserrat" charset="0"/>
      <p:regular r:id="rId16"/>
      <p:bold r:id="rId17"/>
    </p:embeddedFont>
  </p:embeddedFontLst>
  <p:defaultTextStyle>
    <a:defPPr>
      <a:defRPr lang="en-US"/>
    </a:defPPr>
    <a:lvl1pPr marL="0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09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463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617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771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0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-264" y="10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203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914309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371463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828617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5771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0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6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6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6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6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6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6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6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6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6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30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6" indent="-342866" algn="l" defTabSz="914309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76" indent="-285721" algn="l" defTabSz="914309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1" y="27454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Cura AI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280193" y="3794405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50"/>
              </a:lnSpc>
            </a:pPr>
            <a:r>
              <a:rPr lang="en-US" sz="2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Safety-Aware Multi-Agent Healthcare Assistant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280193" y="45030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Team Name: Aurix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80193" y="512111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Team Members: 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Rahul 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Kumar</a:t>
            </a:r>
            <a:endParaRPr lang="en-US" sz="1700" dirty="0"/>
          </a:p>
        </p:txBody>
      </p: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="" xmlns:a16="http://schemas.microsoft.com/office/drawing/2014/main" id="{10C30169-C956-D00C-5591-A8FDB1EE5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558" y="7448442"/>
            <a:ext cx="2295845" cy="781159"/>
          </a:xfrm>
          <a:prstGeom prst="rect">
            <a:avLst/>
          </a:prstGeom>
        </p:spPr>
      </p:pic>
      <p:pic>
        <p:nvPicPr>
          <p:cNvPr id="1026" name="Picture 2" descr="C:\Users\OM\Desktop\cura-ai\docs\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137" y="2451491"/>
            <a:ext cx="3592845" cy="359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7" y="24224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30437" y="3471388"/>
            <a:ext cx="5891570" cy="2335768"/>
          </a:xfrm>
          <a:prstGeom prst="roundRect">
            <a:avLst>
              <a:gd name="adj" fmla="val 6992"/>
            </a:avLst>
          </a:prstGeom>
          <a:solidFill>
            <a:srgbClr val="1A0033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698200"/>
            <a:ext cx="39675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Healthcare Information Gap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7250" y="4279344"/>
            <a:ext cx="5437942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Patients struggle to understand medical terminology, track medications safely, and assess drug interactions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19678" y="3675461"/>
            <a:ext cx="6924437" cy="20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Complex medical reports are difficult to interpret</a:t>
            </a:r>
            <a:endParaRPr lang="en-US" sz="1700" dirty="0"/>
          </a:p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Medication management errors cause thousands of hospitalizations annually</a:t>
            </a:r>
            <a:endParaRPr lang="en-US" sz="1700" dirty="0"/>
          </a:p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Drug interactions often go undetected until it's too late</a:t>
            </a:r>
            <a:endParaRPr lang="en-US" sz="1700" dirty="0"/>
          </a:p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Patients need accessible, intelligent health guidance</a:t>
            </a:r>
            <a:endParaRPr lang="en-US" sz="1700" dirty="0"/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="" xmlns:a16="http://schemas.microsoft.com/office/drawing/2014/main" id="{1698C628-136D-6F16-603C-BCB795FCE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558" y="7448442"/>
            <a:ext cx="2295845" cy="781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7" y="12190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SOLUTION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81489"/>
            <a:ext cx="2411968" cy="2411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1" y="5076944"/>
            <a:ext cx="41586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Symptom Guidance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93791" y="5921695"/>
            <a:ext cx="4158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AI-powered chat agent provides personalized health explanations using contextual memory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381489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5" y="5076944"/>
            <a:ext cx="41586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Medication Management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235895" y="5921693"/>
            <a:ext cx="4158614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Automated reminders with built-in safety checks and drug interaction analysis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381489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0769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 Analysis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9677995" y="5567365"/>
            <a:ext cx="4158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OCR-based medical report processing that converts complex medical jargon into simple, understandable summaries</a:t>
            </a:r>
            <a:endParaRPr lang="en-US" sz="1700" dirty="0"/>
          </a:p>
        </p:txBody>
      </p:sp>
      <p:pic>
        <p:nvPicPr>
          <p:cNvPr id="13" name="Picture 12" descr="A close up of a logo&#10;&#10;AI-generated content may be incorrect.">
            <a:extLst>
              <a:ext uri="{FF2B5EF4-FFF2-40B4-BE49-F238E27FC236}">
                <a16:creationId xmlns="" xmlns:a16="http://schemas.microsoft.com/office/drawing/2014/main" id="{A4E59343-B130-46F5-BD66-40C9A60D40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4558" y="7372396"/>
            <a:ext cx="2295845" cy="781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9467" y="250581"/>
            <a:ext cx="88714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00" b="1" dirty="0">
                <a:solidFill>
                  <a:srgbClr val="E0BB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MULTI-AGENT ARCHITECTURE</a:t>
            </a:r>
            <a:endParaRPr lang="en-US" sz="4400" dirty="0"/>
          </a:p>
        </p:txBody>
      </p:sp>
      <p:pic>
        <p:nvPicPr>
          <p:cNvPr id="12" name="Picture 11" descr="A close up of a logo&#10;&#10;AI-generated content may be incorrect.">
            <a:extLst>
              <a:ext uri="{FF2B5EF4-FFF2-40B4-BE49-F238E27FC236}">
                <a16:creationId xmlns="" xmlns:a16="http://schemas.microsoft.com/office/drawing/2014/main" id="{1F977CF9-F0D4-9D91-4EBC-86B35A4DA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142" y="7381822"/>
            <a:ext cx="2295845" cy="781159"/>
          </a:xfrm>
          <a:prstGeom prst="rect">
            <a:avLst/>
          </a:prstGeom>
        </p:spPr>
      </p:pic>
      <p:pic>
        <p:nvPicPr>
          <p:cNvPr id="1026" name="Picture 2" descr="C:\Users\OM\Desktop\cura-ai\docs\flowchart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134907"/>
            <a:ext cx="9753600" cy="650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659" y="1475781"/>
            <a:ext cx="68921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00" b="1" dirty="0">
                <a:solidFill>
                  <a:schemeClr val="bg1"/>
                </a:solidFill>
              </a:rPr>
              <a:t>Core Intelligent Agents</a:t>
            </a:r>
          </a:p>
          <a:p>
            <a:pPr algn="ctr">
              <a:lnSpc>
                <a:spcPts val="5550"/>
              </a:lnSpc>
            </a:pP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93790" y="2538889"/>
            <a:ext cx="3090506" cy="2765227"/>
          </a:xfrm>
          <a:prstGeom prst="roundRect">
            <a:avLst>
              <a:gd name="adj" fmla="val 3445"/>
            </a:avLst>
          </a:prstGeom>
          <a:solidFill>
            <a:srgbClr val="330066"/>
          </a:solidFill>
          <a:ln w="7620">
            <a:solidFill>
              <a:srgbClr val="4C19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6" y="2773324"/>
            <a:ext cx="26216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Coordinator Agent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8226" y="3618071"/>
            <a:ext cx="26216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Routes user requests based on detected intent to appropriate specialized agents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1109" y="2538889"/>
            <a:ext cx="3090624" cy="2765227"/>
          </a:xfrm>
          <a:prstGeom prst="roundRect">
            <a:avLst>
              <a:gd name="adj" fmla="val 3445"/>
            </a:avLst>
          </a:prstGeom>
          <a:solidFill>
            <a:srgbClr val="330066"/>
          </a:solidFill>
          <a:ln w="7620">
            <a:solidFill>
              <a:srgbClr val="4C19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5542" y="2773324"/>
            <a:ext cx="26217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 Agent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45542" y="3263741"/>
            <a:ext cx="262175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Handles symptom-related queries and general health questions with contextual memory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28549" y="2538889"/>
            <a:ext cx="3090624" cy="2765227"/>
          </a:xfrm>
          <a:prstGeom prst="roundRect">
            <a:avLst>
              <a:gd name="adj" fmla="val 3445"/>
            </a:avLst>
          </a:prstGeom>
          <a:solidFill>
            <a:srgbClr val="330066"/>
          </a:solidFill>
          <a:ln w="7620">
            <a:solidFill>
              <a:srgbClr val="4C19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2982" y="2773324"/>
            <a:ext cx="26217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Reminder Agent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662982" y="3263741"/>
            <a:ext cx="262175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Schedules medication reminders with risk-based gating and safety verification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745986" y="2538889"/>
            <a:ext cx="3090624" cy="2765227"/>
          </a:xfrm>
          <a:prstGeom prst="roundRect">
            <a:avLst>
              <a:gd name="adj" fmla="val 3445"/>
            </a:avLst>
          </a:prstGeom>
          <a:solidFill>
            <a:srgbClr val="330066"/>
          </a:solidFill>
          <a:ln w="7620">
            <a:solidFill>
              <a:srgbClr val="4C19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80419" y="2773324"/>
            <a:ext cx="262175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Drug Interaction Agent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980419" y="3618071"/>
            <a:ext cx="262175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Analyzes medication combinations and classifies risk levels before scheduling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3793" y="5530931"/>
            <a:ext cx="13042821" cy="1322189"/>
          </a:xfrm>
          <a:prstGeom prst="roundRect">
            <a:avLst>
              <a:gd name="adj" fmla="val 7205"/>
            </a:avLst>
          </a:prstGeom>
          <a:solidFill>
            <a:srgbClr val="330066"/>
          </a:solidFill>
          <a:ln w="7620">
            <a:solidFill>
              <a:srgbClr val="4C19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224" y="5765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 Agent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28226" y="6255784"/>
            <a:ext cx="125739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Uses Tesseract OCR to extract and simplify medical reports into layman-friendly explanations</a:t>
            </a:r>
            <a:endParaRPr lang="en-US" sz="1700" dirty="0"/>
          </a:p>
        </p:txBody>
      </p:sp>
      <p:pic>
        <p:nvPicPr>
          <p:cNvPr id="19" name="Picture 18" descr="A close up of a logo&#10;&#10;AI-generated content may be incorrect.">
            <a:extLst>
              <a:ext uri="{FF2B5EF4-FFF2-40B4-BE49-F238E27FC236}">
                <a16:creationId xmlns="" xmlns:a16="http://schemas.microsoft.com/office/drawing/2014/main" id="{14E8CDE9-42BC-1F6F-FBB8-395691251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1302" y="7343538"/>
            <a:ext cx="2295845" cy="781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791516" y="14331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93792" y="2992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93793" y="3573424"/>
            <a:ext cx="6244709" cy="302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Flask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- REST API framework</a:t>
            </a:r>
            <a:endParaRPr lang="en-US" sz="1700" dirty="0"/>
          </a:p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SQLite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- Persistent memory storage</a:t>
            </a:r>
            <a:endParaRPr lang="en-US" sz="1700" dirty="0"/>
          </a:p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Groq LLM API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- Large language model 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inference</a:t>
            </a:r>
          </a:p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Gemini API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- Large language model inference</a:t>
            </a:r>
            <a:endParaRPr lang="en-US" sz="1700" dirty="0"/>
          </a:p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Pytesseract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- OCR for report 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analysis</a:t>
            </a:r>
          </a:p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</a:t>
            </a: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oice input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- Web Speech API</a:t>
            </a:r>
          </a:p>
          <a:p>
            <a:pPr marL="342866" indent="-342866">
              <a:lnSpc>
                <a:spcPts val="2850"/>
              </a:lnSpc>
              <a:buSzPct val="100000"/>
              <a:buFontTx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Encryption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- </a:t>
            </a:r>
            <a:r>
              <a:rPr lang="en-US" sz="17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Fernet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Symmetric Encryption</a:t>
            </a:r>
          </a:p>
          <a:p>
            <a:pPr marL="342866" indent="-342866">
              <a:lnSpc>
                <a:spcPts val="2850"/>
              </a:lnSpc>
              <a:buSzPct val="100000"/>
              <a:buFontTx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Hashing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- SHA256</a:t>
            </a:r>
            <a:endParaRPr lang="en-US" sz="1700" dirty="0">
              <a:solidFill>
                <a:srgbClr val="DCD7E5"/>
              </a:solidFill>
              <a:latin typeface="Heebo Light" pitchFamily="34" charset="0"/>
              <a:ea typeface="Heebo Light" pitchFamily="34" charset="-122"/>
              <a:cs typeface="Heebo Light" pitchFamily="34" charset="-120"/>
            </a:endParaRPr>
          </a:p>
          <a:p>
            <a:pPr marL="342866" indent="-342866">
              <a:lnSpc>
                <a:spcPts val="2850"/>
              </a:lnSpc>
              <a:buSzPct val="100000"/>
              <a:buFontTx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Access Control - 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Authentication</a:t>
            </a:r>
            <a:endParaRPr lang="en-US" sz="1700" dirty="0">
              <a:solidFill>
                <a:srgbClr val="DCD7E5"/>
              </a:solidFill>
              <a:latin typeface="Heebo Light" pitchFamily="34" charset="0"/>
              <a:ea typeface="Heebo Light" pitchFamily="34" charset="-122"/>
              <a:cs typeface="Heebo Light" pitchFamily="34" charset="-120"/>
            </a:endParaRPr>
          </a:p>
          <a:p>
            <a:pPr marL="342866" indent="-342866">
              <a:lnSpc>
                <a:spcPts val="2850"/>
              </a:lnSpc>
              <a:buSzPct val="100000"/>
              <a:buFontTx/>
              <a:buChar char="•"/>
            </a:pPr>
            <a:endParaRPr lang="en-US" sz="1700" dirty="0">
              <a:solidFill>
                <a:srgbClr val="DCD7E5"/>
              </a:solidFill>
              <a:latin typeface="Heebo Light" pitchFamily="34" charset="0"/>
              <a:ea typeface="Heebo Light" pitchFamily="34" charset="-122"/>
              <a:cs typeface="Heebo Light" pitchFamily="34" charset="-120"/>
            </a:endParaRPr>
          </a:p>
          <a:p>
            <a:pPr marL="342866" indent="-342866">
              <a:lnSpc>
                <a:spcPts val="2850"/>
              </a:lnSpc>
              <a:buSzPct val="100000"/>
              <a:buChar char="•"/>
            </a:pPr>
            <a:endParaRPr lang="en-US" sz="1700" dirty="0">
              <a:solidFill>
                <a:srgbClr val="DCD7E5"/>
              </a:solidFill>
              <a:latin typeface="Heebo Light" pitchFamily="34" charset="0"/>
              <a:ea typeface="Heebo Light" pitchFamily="34" charset="-122"/>
              <a:cs typeface="Heebo Light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99523" y="2992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599524" y="3573425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HTML/CSS/JavaScript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- Modern chat UI</a:t>
            </a:r>
            <a:endParaRPr lang="en-US" sz="1700" dirty="0"/>
          </a:p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b="1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localStorage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- Session management</a:t>
            </a:r>
          </a:p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Input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- Voice and 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ext input</a:t>
            </a:r>
            <a:endParaRPr lang="en-US" sz="1700" b="1" dirty="0"/>
          </a:p>
        </p:txBody>
      </p:sp>
      <p:sp>
        <p:nvSpPr>
          <p:cNvPr id="9" name="Text 6"/>
          <p:cNvSpPr/>
          <p:nvPr/>
        </p:nvSpPr>
        <p:spPr>
          <a:xfrm>
            <a:off x="7599523" y="5047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599524" y="5628680"/>
            <a:ext cx="6244709" cy="80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Custom multi-agent orchestration</a:t>
            </a:r>
            <a:endParaRPr lang="en-US" sz="1700" dirty="0"/>
          </a:p>
          <a:p>
            <a:pPr marL="342866" indent="-342866">
              <a:lnSpc>
                <a:spcPts val="285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Memory-augmented 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reasoning</a:t>
            </a:r>
          </a:p>
        </p:txBody>
      </p: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="" xmlns:a16="http://schemas.microsoft.com/office/drawing/2014/main" id="{43194B8D-F7C3-89D1-4003-BFD64C981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1302" y="7448442"/>
            <a:ext cx="2295845" cy="781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3" y="766646"/>
            <a:ext cx="64062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3" y="2191227"/>
            <a:ext cx="113349" cy="1133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3954" y="2070736"/>
            <a:ext cx="39915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Database Integration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133952" y="2651882"/>
            <a:ext cx="72641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Enhanced semantic search and memory retrieval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3" y="3588903"/>
            <a:ext cx="113349" cy="1133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3951" y="3468412"/>
            <a:ext cx="29009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Report Support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133952" y="4049557"/>
            <a:ext cx="72641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Expand beyond image-based OCR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3" y="4986578"/>
            <a:ext cx="113349" cy="1133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3954" y="4866086"/>
            <a:ext cx="37108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Clinical Evaluation Metrics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133952" y="5447230"/>
            <a:ext cx="72641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Structured testing and model comparison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3" y="6384250"/>
            <a:ext cx="113349" cy="1133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33954" y="6263759"/>
            <a:ext cx="34420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Deployment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1133952" y="6844905"/>
            <a:ext cx="72641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Docker containerization and scalable infrastructure</a:t>
            </a:r>
            <a:endParaRPr lang="en-US" sz="1700" dirty="0"/>
          </a:p>
        </p:txBody>
      </p:sp>
      <p:pic>
        <p:nvPicPr>
          <p:cNvPr id="18" name="Picture 17" descr="A close up of a logo&#10;&#10;AI-generated content may be incorrect.">
            <a:extLst>
              <a:ext uri="{FF2B5EF4-FFF2-40B4-BE49-F238E27FC236}">
                <a16:creationId xmlns="" xmlns:a16="http://schemas.microsoft.com/office/drawing/2014/main" id="{48DAC7D4-41B9-043C-71EF-DB0FAE9E0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4558" y="7448442"/>
            <a:ext cx="2295845" cy="781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="" xmlns:a16="http://schemas.microsoft.com/office/drawing/2014/main" id="{112EEF91-64E1-9186-D28C-10FAF3B60C9A}"/>
              </a:ext>
            </a:extLst>
          </p:cNvPr>
          <p:cNvSpPr/>
          <p:nvPr/>
        </p:nvSpPr>
        <p:spPr>
          <a:xfrm>
            <a:off x="3258205" y="3383280"/>
            <a:ext cx="811399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8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8000" dirty="0"/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="" xmlns:a16="http://schemas.microsoft.com/office/drawing/2014/main" id="{CB437485-7D72-C9EA-9F97-471A2B71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8" y="7448552"/>
            <a:ext cx="229552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4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Words>294</Words>
  <Application>Microsoft Office PowerPoint</Application>
  <PresentationFormat>Custom</PresentationFormat>
  <Paragraphs>65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Heebo Light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OM</cp:lastModifiedBy>
  <cp:revision>12</cp:revision>
  <dcterms:created xsi:type="dcterms:W3CDTF">2026-02-27T05:51:41Z</dcterms:created>
  <dcterms:modified xsi:type="dcterms:W3CDTF">2026-03-08T10:47:25Z</dcterms:modified>
</cp:coreProperties>
</file>