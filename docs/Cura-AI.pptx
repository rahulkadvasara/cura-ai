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</p:sldIdLst>
  <p:sldSz cx="14630400" cy="8229600"/>
  <p:notesSz cx="8229600" cy="14630400"/>
  <p:embeddedFontLst>
    <p:embeddedFont>
      <p:font typeface="Heebo Light" charset="-79"/>
      <p:regular r:id="rId11"/>
    </p:embeddedFont>
    <p:embeddedFont>
      <p:font typeface="Calibri" pitchFamily="34" charset="0"/>
      <p:regular r:id="rId12"/>
      <p:bold r:id="rId13"/>
      <p:italic r:id="rId14"/>
      <p:boldItalic r:id="rId15"/>
    </p:embeddedFont>
    <p:embeddedFont>
      <p:font typeface="Montserrat" charset="0"/>
      <p:regular r:id="rId16"/>
      <p:bold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3" d="100"/>
          <a:sy n="63" d="100"/>
        </p:scale>
        <p:origin x="-264" y="260"/>
      </p:cViewPr>
      <p:guideLst>
        <p:guide orient="horz" pos="2592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3203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274546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Cura AI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3794403"/>
            <a:ext cx="75564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 Safety-Aware Multi-Agent Healthcare Assistant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280190" y="450306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Team Name: Aurix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280190" y="5121116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Team Members: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Rahul 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Kumar</a:t>
            </a:r>
            <a:endParaRPr lang="en-US" sz="1750" dirty="0"/>
          </a:p>
        </p:txBody>
      </p:sp>
      <p:pic>
        <p:nvPicPr>
          <p:cNvPr id="11" name="Picture 10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10C30169-C956-D00C-5591-A8FDB1EE5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69FEC825-95FE-A467-765A-B7CE18E8D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94" y="2574117"/>
            <a:ext cx="4645477" cy="3091354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242244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PROBLEM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630436" y="3471386"/>
            <a:ext cx="5891570" cy="2335768"/>
          </a:xfrm>
          <a:prstGeom prst="roundRect">
            <a:avLst>
              <a:gd name="adj" fmla="val 6992"/>
            </a:avLst>
          </a:prstGeom>
          <a:solidFill>
            <a:srgbClr val="1A0033">
              <a:alpha val="9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7250" y="3698200"/>
            <a:ext cx="396752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Healthcare Information Gap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57250" y="4279344"/>
            <a:ext cx="543794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Patients struggle to understand medical terminology, track medications safely, and assess drug interactions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919674" y="3675459"/>
            <a:ext cx="6924437" cy="205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Complex medical reports are difficult to interpret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Medication management errors cause thousands of hospitalizations annually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Drug interactions often go undetected until it's too late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Patients need accessible, intelligent health guidance</a:t>
            </a:r>
            <a:endParaRPr lang="en-US" sz="1750" dirty="0"/>
          </a:p>
        </p:txBody>
      </p:sp>
      <p:pic>
        <p:nvPicPr>
          <p:cNvPr id="8" name="Picture 7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1698C628-136D-6F16-603C-BCB795FCE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121908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SOLUTION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381488"/>
            <a:ext cx="2411968" cy="24119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076944"/>
            <a:ext cx="41586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Intelligent Symptom Guidance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92169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AI-powered chat agent provides personalized health explanations using contextual memory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893" y="2381488"/>
            <a:ext cx="2411968" cy="24119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35893" y="5076944"/>
            <a:ext cx="41586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Medication Management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235893" y="5921693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Automated reminders with built-in safety checks and drug interaction analysis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995" y="2381488"/>
            <a:ext cx="2411968" cy="24119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7995" y="507694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 Analysis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677995" y="556736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OCR-based medical report processing that converts complex medical jargon into simple, understandable summaries</a:t>
            </a:r>
            <a:endParaRPr lang="en-US" sz="1750" dirty="0"/>
          </a:p>
        </p:txBody>
      </p:sp>
      <p:pic>
        <p:nvPicPr>
          <p:cNvPr id="13" name="Picture 12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A4E59343-B130-46F5-BD66-40C9A60D40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4555" y="7372394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9467" y="250578"/>
            <a:ext cx="887146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E0BB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MULTI-AGENT ARCHITECTURE</a:t>
            </a:r>
            <a:endParaRPr lang="en-US" sz="4450" dirty="0"/>
          </a:p>
        </p:txBody>
      </p:sp>
      <p:pic>
        <p:nvPicPr>
          <p:cNvPr id="12" name="Picture 11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1F977CF9-F0D4-9D91-4EBC-86B35A4DA1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8139" y="7381820"/>
            <a:ext cx="2295845" cy="781159"/>
          </a:xfrm>
          <a:prstGeom prst="rect">
            <a:avLst/>
          </a:prstGeom>
        </p:spPr>
      </p:pic>
      <p:pic>
        <p:nvPicPr>
          <p:cNvPr id="1026" name="Picture 2" descr="C:\Users\OM\Desktop\cura-ai\docs\flowchart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400" y="1134905"/>
            <a:ext cx="9753600" cy="650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655" y="1475779"/>
            <a:ext cx="689217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50" b="1" dirty="0">
                <a:solidFill>
                  <a:schemeClr val="bg1"/>
                </a:solidFill>
              </a:rPr>
              <a:t>Core Intelligent Agents</a:t>
            </a:r>
          </a:p>
          <a:p>
            <a:pPr marL="0" indent="0" algn="ctr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38889"/>
            <a:ext cx="3090505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224" y="2773323"/>
            <a:ext cx="2621637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Coordinator Agent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8224" y="3618071"/>
            <a:ext cx="2621637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Routes user requests based on detected intent to appropriate specialized agents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4111109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45543" y="2773323"/>
            <a:ext cx="26217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Agent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45543" y="326374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Handles symptom-related queries and general health questions with contextual memory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428548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62982" y="2773323"/>
            <a:ext cx="26217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Reminder Agent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662982" y="326374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Schedules medication reminders with risk-based gating and safety verification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10745986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80420" y="2773323"/>
            <a:ext cx="2621756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Drug Interaction Agent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80420" y="361807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Analyzes medication combinations and classifies risk levels before scheduling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5530929"/>
            <a:ext cx="13042821" cy="1322189"/>
          </a:xfrm>
          <a:prstGeom prst="roundRect">
            <a:avLst>
              <a:gd name="adj" fmla="val 720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8224" y="57653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 Agent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28224" y="6255782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Uses Tesseract OCR to extract and simplify medical reports into layman-friendly explanations</a:t>
            </a:r>
            <a:endParaRPr lang="en-US" sz="1750" dirty="0"/>
          </a:p>
        </p:txBody>
      </p:sp>
      <p:pic>
        <p:nvPicPr>
          <p:cNvPr id="19" name="Picture 18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14E8CDE9-42BC-1F6F-FBB8-395691251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1298" y="7343538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791513" y="143316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Technology Stack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90" y="29922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93790" y="3573423"/>
            <a:ext cx="6244709" cy="302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Flask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REST API framework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SQLite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Persistent memory storage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Groq LLM API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Large language model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inference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Gemini API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- Large language model inference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Pytesseract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OCR for report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analysis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V</a:t>
            </a: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oice input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 - Web Speech API</a:t>
            </a:r>
          </a:p>
          <a:p>
            <a:pPr marL="342900" indent="-342900">
              <a:lnSpc>
                <a:spcPts val="2850"/>
              </a:lnSpc>
              <a:buSzPct val="100000"/>
              <a:buFontTx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Encryption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</a:t>
            </a:r>
            <a:r>
              <a:rPr lang="en-US" sz="1750" dirty="0" err="1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Fernet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Symmetric Encryption</a:t>
            </a:r>
          </a:p>
          <a:p>
            <a:pPr marL="342900" indent="-342900">
              <a:lnSpc>
                <a:spcPts val="2850"/>
              </a:lnSpc>
              <a:buSzPct val="100000"/>
              <a:buFontTx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Hashing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SHA256</a:t>
            </a:r>
            <a:endParaRPr lang="en-US" sz="175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900" indent="-342900">
              <a:lnSpc>
                <a:spcPts val="2850"/>
              </a:lnSpc>
              <a:buSzPct val="100000"/>
              <a:buFontTx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Access Control -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Authentication</a:t>
            </a:r>
            <a:endParaRPr lang="en-US" sz="175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900" indent="-342900">
              <a:lnSpc>
                <a:spcPts val="2850"/>
              </a:lnSpc>
              <a:buSzPct val="100000"/>
              <a:buFontTx/>
              <a:buChar char="•"/>
            </a:pPr>
            <a:endParaRPr lang="en-US" sz="1750" dirty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endParaRPr lang="en-US" sz="1750" dirty="0" smtClean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599521" y="29922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99521" y="3573423"/>
            <a:ext cx="6244709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HTML/CSS/JavaScript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Modern chat UI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 err="1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localStorage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Session management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Input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 - Voice and 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ext input</a:t>
            </a:r>
            <a:endParaRPr lang="en-US" sz="1750" b="1" dirty="0"/>
          </a:p>
        </p:txBody>
      </p:sp>
      <p:sp>
        <p:nvSpPr>
          <p:cNvPr id="9" name="Text 6"/>
          <p:cNvSpPr/>
          <p:nvPr/>
        </p:nvSpPr>
        <p:spPr>
          <a:xfrm>
            <a:off x="7599521" y="504753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599521" y="5628680"/>
            <a:ext cx="6244709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Custom multi-agent orchestration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Memory-augmented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reasoning</a:t>
            </a:r>
          </a:p>
        </p:txBody>
      </p:sp>
      <p:pic>
        <p:nvPicPr>
          <p:cNvPr id="11" name="Picture 10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43194B8D-F7C3-89D1-4003-BFD64C98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1298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66643"/>
            <a:ext cx="640627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Enhancements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91226"/>
            <a:ext cx="113348" cy="1133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33951" y="2070735"/>
            <a:ext cx="399157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Vector Database Integration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33951" y="2651879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Enhanced semantic search and memory retrieval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588901"/>
            <a:ext cx="113348" cy="1133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33951" y="3468410"/>
            <a:ext cx="290095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PDF Report Support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1133951" y="4049554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Expand beyond image-based OCR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4986576"/>
            <a:ext cx="113348" cy="1133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33951" y="4866084"/>
            <a:ext cx="371082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Clinical Evaluation Metrics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1133951" y="5447228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Structured testing and model comparison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6384250"/>
            <a:ext cx="113348" cy="1133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33951" y="6263759"/>
            <a:ext cx="344209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Deployment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133951" y="6844903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Docker containerization and scalable infrastructure</a:t>
            </a:r>
            <a:endParaRPr lang="en-US" sz="1750" dirty="0"/>
          </a:p>
        </p:txBody>
      </p:sp>
      <p:pic>
        <p:nvPicPr>
          <p:cNvPr id="18" name="Picture 17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48DAC7D4-41B9-043C-71EF-DB0FAE9E0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xmlns="" id="{112EEF91-64E1-9186-D28C-10FAF3B60C9A}"/>
              </a:ext>
            </a:extLst>
          </p:cNvPr>
          <p:cNvSpPr/>
          <p:nvPr/>
        </p:nvSpPr>
        <p:spPr>
          <a:xfrm>
            <a:off x="3258205" y="3383280"/>
            <a:ext cx="811399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80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8000" dirty="0"/>
          </a:p>
        </p:txBody>
      </p: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CB437485-7D72-C9EA-9F97-471A2B71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4875" y="7448550"/>
            <a:ext cx="2295525" cy="78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4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294</Words>
  <Application>Microsoft Office PowerPoint</Application>
  <PresentationFormat>Custom</PresentationFormat>
  <Paragraphs>65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Heebo Light</vt:lpstr>
      <vt:lpstr>Calibri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OM</cp:lastModifiedBy>
  <cp:revision>11</cp:revision>
  <dcterms:created xsi:type="dcterms:W3CDTF">2026-02-27T05:51:41Z</dcterms:created>
  <dcterms:modified xsi:type="dcterms:W3CDTF">2026-03-08T05:42:14Z</dcterms:modified>
</cp:coreProperties>
</file>