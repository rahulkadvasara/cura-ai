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2" r:id="rId7"/>
    <p:sldId id="264" r:id="rId8"/>
    <p:sldId id="265" r:id="rId9"/>
  </p:sldIdLst>
  <p:sldSz cx="14630400" cy="8229600"/>
  <p:notesSz cx="8229600" cy="14630400"/>
  <p:embeddedFontLst>
    <p:embeddedFont>
      <p:font typeface="Heebo Light" charset="-79"/>
      <p:regular r:id="rId11"/>
    </p:embeddedFont>
    <p:embeddedFont>
      <p:font typeface="Calibri" pitchFamily="34" charset="0"/>
      <p:regular r:id="rId12"/>
      <p:bold r:id="rId13"/>
      <p:italic r:id="rId14"/>
      <p:boldItalic r:id="rId15"/>
    </p:embeddedFont>
    <p:embeddedFont>
      <p:font typeface="Montserrat" charset="0"/>
      <p:regular r:id="rId16"/>
      <p:bold r:id="rId17"/>
    </p:embeddedFont>
  </p:embeddedFontLst>
  <p:defaultTextStyle>
    <a:defPPr>
      <a:defRPr lang="en-US"/>
    </a:defPPr>
    <a:lvl1pPr marL="0" algn="l" defTabSz="914309" rtl="0" eaLnBrk="1" latinLnBrk="0" hangingPunct="1">
      <a:defRPr sz="1900" kern="1200">
        <a:solidFill>
          <a:schemeClr val="tx1"/>
        </a:solidFill>
        <a:latin typeface="+mn-lt"/>
        <a:ea typeface="+mn-ea"/>
        <a:cs typeface="+mn-cs"/>
      </a:defRPr>
    </a:lvl1pPr>
    <a:lvl2pPr marL="457154" algn="l" defTabSz="914309" rtl="0" eaLnBrk="1" latinLnBrk="0" hangingPunct="1">
      <a:defRPr sz="1900" kern="1200">
        <a:solidFill>
          <a:schemeClr val="tx1"/>
        </a:solidFill>
        <a:latin typeface="+mn-lt"/>
        <a:ea typeface="+mn-ea"/>
        <a:cs typeface="+mn-cs"/>
      </a:defRPr>
    </a:lvl2pPr>
    <a:lvl3pPr marL="914309" algn="l" defTabSz="914309" rtl="0" eaLnBrk="1" latinLnBrk="0" hangingPunct="1">
      <a:defRPr sz="1900" kern="1200">
        <a:solidFill>
          <a:schemeClr val="tx1"/>
        </a:solidFill>
        <a:latin typeface="+mn-lt"/>
        <a:ea typeface="+mn-ea"/>
        <a:cs typeface="+mn-cs"/>
      </a:defRPr>
    </a:lvl3pPr>
    <a:lvl4pPr marL="1371463" algn="l" defTabSz="914309" rtl="0" eaLnBrk="1" latinLnBrk="0" hangingPunct="1">
      <a:defRPr sz="1900" kern="1200">
        <a:solidFill>
          <a:schemeClr val="tx1"/>
        </a:solidFill>
        <a:latin typeface="+mn-lt"/>
        <a:ea typeface="+mn-ea"/>
        <a:cs typeface="+mn-cs"/>
      </a:defRPr>
    </a:lvl4pPr>
    <a:lvl5pPr marL="1828617" algn="l" defTabSz="914309" rtl="0" eaLnBrk="1" latinLnBrk="0" hangingPunct="1">
      <a:defRPr sz="1900" kern="1200">
        <a:solidFill>
          <a:schemeClr val="tx1"/>
        </a:solidFill>
        <a:latin typeface="+mn-lt"/>
        <a:ea typeface="+mn-ea"/>
        <a:cs typeface="+mn-cs"/>
      </a:defRPr>
    </a:lvl5pPr>
    <a:lvl6pPr marL="2285771" algn="l" defTabSz="914309" rtl="0" eaLnBrk="1" latinLnBrk="0" hangingPunct="1">
      <a:defRPr sz="1900" kern="1200">
        <a:solidFill>
          <a:schemeClr val="tx1"/>
        </a:solidFill>
        <a:latin typeface="+mn-lt"/>
        <a:ea typeface="+mn-ea"/>
        <a:cs typeface="+mn-cs"/>
      </a:defRPr>
    </a:lvl6pPr>
    <a:lvl7pPr marL="2742926" algn="l" defTabSz="914309" rtl="0" eaLnBrk="1" latinLnBrk="0" hangingPunct="1">
      <a:defRPr sz="1900" kern="1200">
        <a:solidFill>
          <a:schemeClr val="tx1"/>
        </a:solidFill>
        <a:latin typeface="+mn-lt"/>
        <a:ea typeface="+mn-ea"/>
        <a:cs typeface="+mn-cs"/>
      </a:defRPr>
    </a:lvl7pPr>
    <a:lvl8pPr marL="3200080" algn="l" defTabSz="914309" rtl="0" eaLnBrk="1" latinLnBrk="0" hangingPunct="1">
      <a:defRPr sz="1900" kern="1200">
        <a:solidFill>
          <a:schemeClr val="tx1"/>
        </a:solidFill>
        <a:latin typeface="+mn-lt"/>
        <a:ea typeface="+mn-ea"/>
        <a:cs typeface="+mn-cs"/>
      </a:defRPr>
    </a:lvl8pPr>
    <a:lvl9pPr marL="3657234" algn="l" defTabSz="914309" rtl="0" eaLnBrk="1" latinLnBrk="0" hangingPunct="1">
      <a:defRPr sz="19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3" d="100"/>
          <a:sy n="63" d="100"/>
        </p:scale>
        <p:origin x="-264" y="104"/>
      </p:cViewPr>
      <p:guideLst>
        <p:guide orient="horz" pos="2592"/>
        <p:guide pos="460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notesMaster" Target="notesMasters/notesMaster1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832030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09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1pPr>
    <a:lvl2pPr marL="457154" algn="l" defTabSz="914309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2pPr>
    <a:lvl3pPr marL="914309" algn="l" defTabSz="914309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3pPr>
    <a:lvl4pPr marL="1371463" algn="l" defTabSz="914309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4pPr>
    <a:lvl5pPr marL="1828617" algn="l" defTabSz="914309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5pPr>
    <a:lvl6pPr marL="2285771" algn="l" defTabSz="914309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6pPr>
    <a:lvl7pPr marL="2742926" algn="l" defTabSz="914309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7pPr>
    <a:lvl8pPr marL="3200080" algn="l" defTabSz="914309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8pPr>
    <a:lvl9pPr marL="3657234" algn="l" defTabSz="914309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A2C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6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A2C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6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A2C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6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A2C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6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A2C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6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A2C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6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A2C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6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A2C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6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A2C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6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309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866" indent="-342866" algn="l" defTabSz="914309" rtl="0" eaLnBrk="1" latinLnBrk="0" hangingPunct="1">
        <a:spcBef>
          <a:spcPct val="20000"/>
        </a:spcBef>
        <a:buFont typeface="Arial" pitchFamily="34" charset="0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1pPr>
      <a:lvl2pPr marL="742876" indent="-285721" algn="l" defTabSz="914309" rtl="0" eaLnBrk="1" latinLnBrk="0" hangingPunct="1">
        <a:spcBef>
          <a:spcPct val="20000"/>
        </a:spcBef>
        <a:buFont typeface="Arial" pitchFamily="34" charset="0"/>
        <a:buChar char="–"/>
        <a:defRPr sz="29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886" indent="-228577" algn="l" defTabSz="914309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040" indent="-228577" algn="l" defTabSz="914309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194" indent="-228577" algn="l" defTabSz="914309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9" indent="-228577" algn="l" defTabSz="91430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503" indent="-228577" algn="l" defTabSz="91430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7" indent="-228577" algn="l" defTabSz="91430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811" indent="-228577" algn="l" defTabSz="91430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09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54" algn="l" defTabSz="914309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09" algn="l" defTabSz="914309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3" algn="l" defTabSz="914309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7" algn="l" defTabSz="914309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71" algn="l" defTabSz="914309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6" algn="l" defTabSz="914309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80" algn="l" defTabSz="914309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234" algn="l" defTabSz="914309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280191" y="2745465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sz="4400" dirty="0">
                <a:solidFill>
                  <a:srgbClr val="F2F0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Cura AI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6280193" y="3794405"/>
            <a:ext cx="7556421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3550"/>
              </a:lnSpc>
            </a:pPr>
            <a:r>
              <a:rPr lang="en-US" sz="210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A Safety-Aware Multi-Agent Healthcare Assistant</a:t>
            </a:r>
            <a:endParaRPr lang="en-US" sz="2100" dirty="0"/>
          </a:p>
        </p:txBody>
      </p:sp>
      <p:sp>
        <p:nvSpPr>
          <p:cNvPr id="5" name="Text 2"/>
          <p:cNvSpPr/>
          <p:nvPr/>
        </p:nvSpPr>
        <p:spPr>
          <a:xfrm>
            <a:off x="6280193" y="4503065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 sz="170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Team Name: Aurix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6280193" y="5121118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 sz="170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Team Members: </a:t>
            </a:r>
            <a:r>
              <a:rPr lang="en-US" sz="170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Rahul </a:t>
            </a:r>
            <a:r>
              <a:rPr lang="en-US" sz="170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Kumar</a:t>
            </a:r>
            <a:endParaRPr lang="en-US" sz="1700" dirty="0"/>
          </a:p>
        </p:txBody>
      </p:sp>
      <p:pic>
        <p:nvPicPr>
          <p:cNvPr id="11" name="Picture 10" descr="A close up of a logo&#10;&#10;AI-generated content may be incorrect.">
            <a:extLst>
              <a:ext uri="{FF2B5EF4-FFF2-40B4-BE49-F238E27FC236}">
                <a16:creationId xmlns="" xmlns:a16="http://schemas.microsoft.com/office/drawing/2014/main" id="{10C30169-C956-D00C-5591-A8FDB1EE5D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34558" y="7448442"/>
            <a:ext cx="2295845" cy="781159"/>
          </a:xfrm>
          <a:prstGeom prst="rect">
            <a:avLst/>
          </a:prstGeom>
        </p:spPr>
      </p:pic>
      <p:pic>
        <p:nvPicPr>
          <p:cNvPr id="1026" name="Picture 2" descr="C:\Users\OM\Desktop\cura-ai\docs\logo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1137" y="2451491"/>
            <a:ext cx="3592845" cy="3592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79847" y="2422449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5550"/>
              </a:lnSpc>
            </a:pPr>
            <a:r>
              <a:rPr lang="en-US" sz="4400" dirty="0">
                <a:solidFill>
                  <a:srgbClr val="F2F0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PROBLEM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630437" y="3471388"/>
            <a:ext cx="5891570" cy="2335768"/>
          </a:xfrm>
          <a:prstGeom prst="roundRect">
            <a:avLst>
              <a:gd name="adj" fmla="val 6992"/>
            </a:avLst>
          </a:prstGeom>
          <a:solidFill>
            <a:srgbClr val="1A0033">
              <a:alpha val="9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57250" y="3698200"/>
            <a:ext cx="3967520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en-US" sz="2100" dirty="0">
                <a:solidFill>
                  <a:srgbClr val="F2F0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Healthcare Information Gap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57250" y="4279344"/>
            <a:ext cx="5437942" cy="725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 sz="170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Patients struggle to understand medical terminology, track medications safely, and assess drug interactions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919678" y="3675461"/>
            <a:ext cx="6924437" cy="20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866" indent="-342866">
              <a:lnSpc>
                <a:spcPts val="2850"/>
              </a:lnSpc>
              <a:buSzPct val="100000"/>
              <a:buChar char="•"/>
            </a:pPr>
            <a:r>
              <a:rPr lang="en-US" sz="170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Complex medical reports are difficult to interpret</a:t>
            </a:r>
            <a:endParaRPr lang="en-US" sz="1700" dirty="0"/>
          </a:p>
          <a:p>
            <a:pPr marL="342866" indent="-342866">
              <a:lnSpc>
                <a:spcPts val="2850"/>
              </a:lnSpc>
              <a:buSzPct val="100000"/>
              <a:buChar char="•"/>
            </a:pPr>
            <a:r>
              <a:rPr lang="en-US" sz="170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Medication management errors cause thousands of hospitalizations annually</a:t>
            </a:r>
            <a:endParaRPr lang="en-US" sz="1700" dirty="0"/>
          </a:p>
          <a:p>
            <a:pPr marL="342866" indent="-342866">
              <a:lnSpc>
                <a:spcPts val="2850"/>
              </a:lnSpc>
              <a:buSzPct val="100000"/>
              <a:buChar char="•"/>
            </a:pPr>
            <a:r>
              <a:rPr lang="en-US" sz="170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Drug interactions often go undetected until it's too late</a:t>
            </a:r>
            <a:endParaRPr lang="en-US" sz="1700" dirty="0"/>
          </a:p>
          <a:p>
            <a:pPr marL="342866" indent="-342866">
              <a:lnSpc>
                <a:spcPts val="2850"/>
              </a:lnSpc>
              <a:buSzPct val="100000"/>
              <a:buChar char="•"/>
            </a:pPr>
            <a:r>
              <a:rPr lang="en-US" sz="170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Patients need accessible, intelligent health guidance</a:t>
            </a:r>
            <a:endParaRPr lang="en-US" sz="1700" dirty="0"/>
          </a:p>
        </p:txBody>
      </p:sp>
      <p:pic>
        <p:nvPicPr>
          <p:cNvPr id="8" name="Picture 7" descr="A close up of a logo&#10;&#10;AI-generated content may be incorrect.">
            <a:extLst>
              <a:ext uri="{FF2B5EF4-FFF2-40B4-BE49-F238E27FC236}">
                <a16:creationId xmlns="" xmlns:a16="http://schemas.microsoft.com/office/drawing/2014/main" id="{1698C628-136D-6F16-603C-BCB795FCE3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34558" y="7448442"/>
            <a:ext cx="2295845" cy="7811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79847" y="1219083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5550"/>
              </a:lnSpc>
            </a:pPr>
            <a:r>
              <a:rPr lang="en-US" sz="4400" b="1" dirty="0">
                <a:solidFill>
                  <a:srgbClr val="F2F0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SOLUTION</a:t>
            </a:r>
            <a:endParaRPr lang="en-US" sz="44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381489"/>
            <a:ext cx="2411968" cy="24119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3791" y="5076944"/>
            <a:ext cx="415861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750"/>
              </a:lnSpc>
            </a:pPr>
            <a:r>
              <a:rPr lang="en-US" sz="2100" b="1" dirty="0">
                <a:solidFill>
                  <a:srgbClr val="DCD7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Intelligent Symptom Guidance</a:t>
            </a:r>
            <a:endParaRPr lang="en-US" sz="2100" dirty="0"/>
          </a:p>
        </p:txBody>
      </p:sp>
      <p:sp>
        <p:nvSpPr>
          <p:cNvPr id="5" name="Text 2"/>
          <p:cNvSpPr/>
          <p:nvPr/>
        </p:nvSpPr>
        <p:spPr>
          <a:xfrm>
            <a:off x="793791" y="5921695"/>
            <a:ext cx="4158614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 sz="170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AI-powered chat agent provides personalized health explanations using contextual memory</a:t>
            </a:r>
            <a:endParaRPr lang="en-US" sz="17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5893" y="2381489"/>
            <a:ext cx="2411968" cy="24119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235895" y="5076944"/>
            <a:ext cx="415861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750"/>
              </a:lnSpc>
            </a:pPr>
            <a:r>
              <a:rPr lang="en-US" sz="2100" b="1" dirty="0">
                <a:solidFill>
                  <a:srgbClr val="DCD7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Smart Medication Management</a:t>
            </a:r>
            <a:endParaRPr lang="en-US" sz="2100" dirty="0"/>
          </a:p>
        </p:txBody>
      </p:sp>
      <p:sp>
        <p:nvSpPr>
          <p:cNvPr id="8" name="Text 4"/>
          <p:cNvSpPr/>
          <p:nvPr/>
        </p:nvSpPr>
        <p:spPr>
          <a:xfrm>
            <a:off x="5235895" y="5921693"/>
            <a:ext cx="4158614" cy="725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 sz="170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Automated reminders with built-in safety checks and drug interaction analysis</a:t>
            </a:r>
            <a:endParaRPr lang="en-US" sz="17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7995" y="2381489"/>
            <a:ext cx="2411968" cy="241196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677995" y="507694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en-US" sz="2100" b="1" dirty="0">
                <a:solidFill>
                  <a:srgbClr val="DCD7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Report Analysis</a:t>
            </a:r>
            <a:endParaRPr lang="en-US" sz="2100" dirty="0"/>
          </a:p>
        </p:txBody>
      </p:sp>
      <p:sp>
        <p:nvSpPr>
          <p:cNvPr id="11" name="Text 6"/>
          <p:cNvSpPr/>
          <p:nvPr/>
        </p:nvSpPr>
        <p:spPr>
          <a:xfrm>
            <a:off x="9677995" y="5567365"/>
            <a:ext cx="4158614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 sz="170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OCR-based medical report processing that converts complex medical jargon into simple, understandable summaries</a:t>
            </a:r>
            <a:endParaRPr lang="en-US" sz="1700" dirty="0"/>
          </a:p>
        </p:txBody>
      </p:sp>
      <p:pic>
        <p:nvPicPr>
          <p:cNvPr id="13" name="Picture 12" descr="A close up of a logo&#10;&#10;AI-generated content may be incorrect.">
            <a:extLst>
              <a:ext uri="{FF2B5EF4-FFF2-40B4-BE49-F238E27FC236}">
                <a16:creationId xmlns="" xmlns:a16="http://schemas.microsoft.com/office/drawing/2014/main" id="{A4E59343-B130-46F5-BD66-40C9A60D40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34558" y="7372396"/>
            <a:ext cx="2295845" cy="7811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79467" y="250581"/>
            <a:ext cx="8871466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5550"/>
              </a:lnSpc>
            </a:pPr>
            <a:r>
              <a:rPr lang="en-US" sz="4400" b="1" dirty="0">
                <a:solidFill>
                  <a:srgbClr val="E0BB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MULTI-AGENT ARCHITECTURE</a:t>
            </a:r>
            <a:endParaRPr lang="en-US" sz="4400" dirty="0"/>
          </a:p>
        </p:txBody>
      </p:sp>
      <p:pic>
        <p:nvPicPr>
          <p:cNvPr id="12" name="Picture 11" descr="A close up of a logo&#10;&#10;AI-generated content may be incorrect.">
            <a:extLst>
              <a:ext uri="{FF2B5EF4-FFF2-40B4-BE49-F238E27FC236}">
                <a16:creationId xmlns="" xmlns:a16="http://schemas.microsoft.com/office/drawing/2014/main" id="{1F977CF9-F0D4-9D91-4EBC-86B35A4DA1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8142" y="7381822"/>
            <a:ext cx="2295845" cy="781159"/>
          </a:xfrm>
          <a:prstGeom prst="rect">
            <a:avLst/>
          </a:prstGeom>
        </p:spPr>
      </p:pic>
      <p:pic>
        <p:nvPicPr>
          <p:cNvPr id="1026" name="Picture 2" descr="C:\Users\OM\Desktop\cura-ai\docs\flowchart2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8400" y="1134907"/>
            <a:ext cx="9753600" cy="6502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31659" y="1475781"/>
            <a:ext cx="6892171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5550"/>
              </a:lnSpc>
            </a:pPr>
            <a:r>
              <a:rPr lang="en-US" sz="4400" b="1" dirty="0">
                <a:solidFill>
                  <a:schemeClr val="bg1"/>
                </a:solidFill>
              </a:rPr>
              <a:t>Core Intelligent Agents</a:t>
            </a:r>
          </a:p>
          <a:p>
            <a:pPr algn="ctr">
              <a:lnSpc>
                <a:spcPts val="5550"/>
              </a:lnSpc>
            </a:pP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793790" y="2538889"/>
            <a:ext cx="3090506" cy="2765227"/>
          </a:xfrm>
          <a:prstGeom prst="roundRect">
            <a:avLst>
              <a:gd name="adj" fmla="val 3445"/>
            </a:avLst>
          </a:prstGeom>
          <a:solidFill>
            <a:srgbClr val="330066"/>
          </a:solidFill>
          <a:ln w="7620">
            <a:solidFill>
              <a:srgbClr val="4C19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8226" y="2773324"/>
            <a:ext cx="2621637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750"/>
              </a:lnSpc>
            </a:pPr>
            <a:r>
              <a:rPr lang="en-US" sz="21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Coordinator Agent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28226" y="3618071"/>
            <a:ext cx="2621637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 sz="1700" dirty="0">
                <a:solidFill>
                  <a:srgbClr val="FFFFFF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Routes user requests based on detected intent to appropriate specialized agents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111109" y="2538889"/>
            <a:ext cx="3090624" cy="2765227"/>
          </a:xfrm>
          <a:prstGeom prst="roundRect">
            <a:avLst>
              <a:gd name="adj" fmla="val 3445"/>
            </a:avLst>
          </a:prstGeom>
          <a:solidFill>
            <a:srgbClr val="330066"/>
          </a:solidFill>
          <a:ln w="7620">
            <a:solidFill>
              <a:srgbClr val="4C197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45542" y="2773324"/>
            <a:ext cx="2621757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en-US" sz="21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Chat Agent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4345542" y="3263741"/>
            <a:ext cx="2621757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 sz="1700" dirty="0">
                <a:solidFill>
                  <a:srgbClr val="FFFFFF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Handles symptom-related queries and general health questions with contextual memory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428549" y="2538889"/>
            <a:ext cx="3090624" cy="2765227"/>
          </a:xfrm>
          <a:prstGeom prst="roundRect">
            <a:avLst>
              <a:gd name="adj" fmla="val 3445"/>
            </a:avLst>
          </a:prstGeom>
          <a:solidFill>
            <a:srgbClr val="330066"/>
          </a:solidFill>
          <a:ln w="7620">
            <a:solidFill>
              <a:srgbClr val="4C19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62982" y="2773324"/>
            <a:ext cx="2621757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en-US" sz="21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Reminder Agent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7662982" y="3263741"/>
            <a:ext cx="2621757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 sz="1700" dirty="0">
                <a:solidFill>
                  <a:srgbClr val="FFFFFF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Schedules medication reminders with risk-based gating and safety verification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10745986" y="2538889"/>
            <a:ext cx="3090624" cy="2765227"/>
          </a:xfrm>
          <a:prstGeom prst="roundRect">
            <a:avLst>
              <a:gd name="adj" fmla="val 3445"/>
            </a:avLst>
          </a:prstGeom>
          <a:solidFill>
            <a:srgbClr val="330066"/>
          </a:solidFill>
          <a:ln w="7620">
            <a:solidFill>
              <a:srgbClr val="4C197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80419" y="2773324"/>
            <a:ext cx="2621757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750"/>
              </a:lnSpc>
            </a:pPr>
            <a:r>
              <a:rPr lang="en-US" sz="21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Drug Interaction Agent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980419" y="3618071"/>
            <a:ext cx="2621757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 sz="1700" dirty="0">
                <a:solidFill>
                  <a:srgbClr val="FFFFFF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Analyzes medication combinations and classifies risk levels before scheduling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93793" y="5530931"/>
            <a:ext cx="13042821" cy="1322189"/>
          </a:xfrm>
          <a:prstGeom prst="roundRect">
            <a:avLst>
              <a:gd name="adj" fmla="val 7205"/>
            </a:avLst>
          </a:prstGeom>
          <a:solidFill>
            <a:srgbClr val="330066"/>
          </a:solidFill>
          <a:ln w="7620">
            <a:solidFill>
              <a:srgbClr val="4C197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8224" y="576536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en-US" sz="21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Report Agent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028226" y="6255784"/>
            <a:ext cx="1257395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 sz="1700" dirty="0">
                <a:solidFill>
                  <a:srgbClr val="FFFFFF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Uses Tesseract OCR to extract and simplify medical reports into layman-friendly explanations</a:t>
            </a:r>
            <a:endParaRPr lang="en-US" sz="1700" dirty="0"/>
          </a:p>
        </p:txBody>
      </p:sp>
      <p:pic>
        <p:nvPicPr>
          <p:cNvPr id="19" name="Picture 18" descr="A close up of a logo&#10;&#10;AI-generated content may be incorrect.">
            <a:extLst>
              <a:ext uri="{FF2B5EF4-FFF2-40B4-BE49-F238E27FC236}">
                <a16:creationId xmlns="" xmlns:a16="http://schemas.microsoft.com/office/drawing/2014/main" id="{14E8CDE9-42BC-1F6F-FBB8-3956912514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91302" y="7343538"/>
            <a:ext cx="2295845" cy="7811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A2C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3791516" y="1433170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5550"/>
              </a:lnSpc>
            </a:pPr>
            <a:r>
              <a:rPr lang="en-US" sz="4400" dirty="0">
                <a:solidFill>
                  <a:srgbClr val="F2F0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Technology Stack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793792" y="299228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en-US" sz="2100" dirty="0">
                <a:solidFill>
                  <a:srgbClr val="F2F0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Backend</a:t>
            </a:r>
            <a:endParaRPr lang="en-US" sz="2100" dirty="0"/>
          </a:p>
        </p:txBody>
      </p:sp>
      <p:sp>
        <p:nvSpPr>
          <p:cNvPr id="6" name="Text 3"/>
          <p:cNvSpPr/>
          <p:nvPr/>
        </p:nvSpPr>
        <p:spPr>
          <a:xfrm>
            <a:off x="793793" y="3573424"/>
            <a:ext cx="6244709" cy="302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866" indent="-342866">
              <a:lnSpc>
                <a:spcPts val="2850"/>
              </a:lnSpc>
              <a:buSzPct val="100000"/>
              <a:buChar char="•"/>
            </a:pPr>
            <a:r>
              <a:rPr lang="en-US" sz="1700" b="1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Flask</a:t>
            </a:r>
            <a:r>
              <a:rPr lang="en-US" sz="170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- REST API framework</a:t>
            </a:r>
            <a:endParaRPr lang="en-US" sz="1700" dirty="0"/>
          </a:p>
          <a:p>
            <a:pPr marL="342866" indent="-342866">
              <a:lnSpc>
                <a:spcPts val="2850"/>
              </a:lnSpc>
              <a:buSzPct val="100000"/>
              <a:buChar char="•"/>
            </a:pPr>
            <a:r>
              <a:rPr lang="en-US" sz="1700" b="1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SQLite</a:t>
            </a:r>
            <a:r>
              <a:rPr lang="en-US" sz="170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- Persistent memory storage</a:t>
            </a:r>
            <a:endParaRPr lang="en-US" sz="1700" dirty="0"/>
          </a:p>
          <a:p>
            <a:pPr marL="342866" indent="-342866">
              <a:lnSpc>
                <a:spcPts val="2850"/>
              </a:lnSpc>
              <a:buSzPct val="100000"/>
              <a:buChar char="•"/>
            </a:pPr>
            <a:r>
              <a:rPr lang="en-US" sz="1700" b="1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Groq LLM API</a:t>
            </a:r>
            <a:r>
              <a:rPr lang="en-US" sz="170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- Large language model </a:t>
            </a:r>
            <a:r>
              <a:rPr lang="en-US" sz="170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inference</a:t>
            </a:r>
          </a:p>
          <a:p>
            <a:pPr marL="342866" indent="-342866">
              <a:lnSpc>
                <a:spcPts val="2850"/>
              </a:lnSpc>
              <a:buSzPct val="100000"/>
              <a:buChar char="•"/>
            </a:pPr>
            <a:r>
              <a:rPr lang="en-US" sz="1700" b="1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Gemini API</a:t>
            </a:r>
            <a:r>
              <a:rPr lang="en-US" sz="170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</a:t>
            </a:r>
            <a:r>
              <a:rPr lang="en-US" sz="170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- Large language model inference</a:t>
            </a:r>
            <a:endParaRPr lang="en-US" sz="1700" dirty="0"/>
          </a:p>
          <a:p>
            <a:pPr marL="342866" indent="-342866">
              <a:lnSpc>
                <a:spcPts val="2850"/>
              </a:lnSpc>
              <a:buSzPct val="100000"/>
              <a:buChar char="•"/>
            </a:pPr>
            <a:r>
              <a:rPr lang="en-US" sz="1700" b="1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Pytesseract</a:t>
            </a:r>
            <a:r>
              <a:rPr lang="en-US" sz="170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- OCR for report </a:t>
            </a:r>
            <a:r>
              <a:rPr lang="en-US" sz="170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analysis</a:t>
            </a:r>
          </a:p>
          <a:p>
            <a:pPr marL="342866" indent="-342866">
              <a:lnSpc>
                <a:spcPts val="2850"/>
              </a:lnSpc>
              <a:buSzPct val="100000"/>
              <a:buChar char="•"/>
            </a:pPr>
            <a:r>
              <a:rPr lang="en-US" sz="1700" b="1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V</a:t>
            </a:r>
            <a:r>
              <a:rPr lang="en-US" sz="1700" b="1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oice input</a:t>
            </a:r>
            <a:r>
              <a:rPr lang="en-US" sz="170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 - Web Speech API</a:t>
            </a:r>
          </a:p>
          <a:p>
            <a:pPr marL="342866" indent="-342866">
              <a:lnSpc>
                <a:spcPts val="2850"/>
              </a:lnSpc>
              <a:buSzPct val="100000"/>
              <a:buFontTx/>
              <a:buChar char="•"/>
            </a:pPr>
            <a:r>
              <a:rPr lang="en-US" sz="1700" b="1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Encryption</a:t>
            </a:r>
            <a:r>
              <a:rPr lang="en-US" sz="170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- </a:t>
            </a:r>
            <a:r>
              <a:rPr lang="en-US" sz="1700" dirty="0" err="1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Fernet</a:t>
            </a:r>
            <a:r>
              <a:rPr lang="en-US" sz="170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Symmetric Encryption</a:t>
            </a:r>
          </a:p>
          <a:p>
            <a:pPr marL="342866" indent="-342866">
              <a:lnSpc>
                <a:spcPts val="2850"/>
              </a:lnSpc>
              <a:buSzPct val="100000"/>
              <a:buFontTx/>
              <a:buChar char="•"/>
            </a:pPr>
            <a:r>
              <a:rPr lang="en-US" sz="1700" b="1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Hashing</a:t>
            </a:r>
            <a:r>
              <a:rPr lang="en-US" sz="170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- SHA256</a:t>
            </a:r>
            <a:endParaRPr lang="en-US" sz="1700" dirty="0">
              <a:solidFill>
                <a:srgbClr val="DCD7E5"/>
              </a:solidFill>
              <a:latin typeface="Heebo Light" pitchFamily="34" charset="0"/>
              <a:ea typeface="Heebo Light" pitchFamily="34" charset="-122"/>
              <a:cs typeface="Heebo Light" pitchFamily="34" charset="-120"/>
            </a:endParaRPr>
          </a:p>
          <a:p>
            <a:pPr marL="342866" indent="-342866">
              <a:lnSpc>
                <a:spcPts val="2850"/>
              </a:lnSpc>
              <a:buSzPct val="100000"/>
              <a:buFontTx/>
              <a:buChar char="•"/>
            </a:pPr>
            <a:r>
              <a:rPr lang="en-US" sz="1700" b="1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Access Control - </a:t>
            </a:r>
            <a:r>
              <a:rPr lang="en-US" sz="170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Authentication</a:t>
            </a:r>
            <a:endParaRPr lang="en-US" sz="1700" dirty="0">
              <a:solidFill>
                <a:srgbClr val="DCD7E5"/>
              </a:solidFill>
              <a:latin typeface="Heebo Light" pitchFamily="34" charset="0"/>
              <a:ea typeface="Heebo Light" pitchFamily="34" charset="-122"/>
              <a:cs typeface="Heebo Light" pitchFamily="34" charset="-120"/>
            </a:endParaRPr>
          </a:p>
          <a:p>
            <a:pPr marL="342866" indent="-342866">
              <a:lnSpc>
                <a:spcPts val="2850"/>
              </a:lnSpc>
              <a:buSzPct val="100000"/>
              <a:buFontTx/>
              <a:buChar char="•"/>
            </a:pPr>
            <a:endParaRPr lang="en-US" sz="1700" dirty="0">
              <a:solidFill>
                <a:srgbClr val="DCD7E5"/>
              </a:solidFill>
              <a:latin typeface="Heebo Light" pitchFamily="34" charset="0"/>
              <a:ea typeface="Heebo Light" pitchFamily="34" charset="-122"/>
              <a:cs typeface="Heebo Light" pitchFamily="34" charset="-120"/>
            </a:endParaRPr>
          </a:p>
          <a:p>
            <a:pPr marL="342866" indent="-342866">
              <a:lnSpc>
                <a:spcPts val="2850"/>
              </a:lnSpc>
              <a:buSzPct val="100000"/>
              <a:buChar char="•"/>
            </a:pPr>
            <a:endParaRPr lang="en-US" sz="1700" dirty="0">
              <a:solidFill>
                <a:srgbClr val="DCD7E5"/>
              </a:solidFill>
              <a:latin typeface="Heebo Light" pitchFamily="34" charset="0"/>
              <a:ea typeface="Heebo Light" pitchFamily="34" charset="-122"/>
              <a:cs typeface="Heebo Light" pitchFamily="34" charset="-120"/>
            </a:endParaRPr>
          </a:p>
        </p:txBody>
      </p:sp>
      <p:sp>
        <p:nvSpPr>
          <p:cNvPr id="7" name="Text 4"/>
          <p:cNvSpPr/>
          <p:nvPr/>
        </p:nvSpPr>
        <p:spPr>
          <a:xfrm>
            <a:off x="7599523" y="299228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en-US" sz="2100" dirty="0">
                <a:solidFill>
                  <a:srgbClr val="F2F0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Frontend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7599524" y="3573425"/>
            <a:ext cx="6244709" cy="12472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866" indent="-342866">
              <a:lnSpc>
                <a:spcPts val="2850"/>
              </a:lnSpc>
              <a:buSzPct val="100000"/>
              <a:buChar char="•"/>
            </a:pPr>
            <a:r>
              <a:rPr lang="en-US" sz="1700" b="1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HTML/CSS/JavaScript</a:t>
            </a:r>
            <a:r>
              <a:rPr lang="en-US" sz="170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- Modern chat UI</a:t>
            </a:r>
            <a:endParaRPr lang="en-US" sz="1700" dirty="0"/>
          </a:p>
          <a:p>
            <a:pPr marL="342866" indent="-342866">
              <a:lnSpc>
                <a:spcPts val="2850"/>
              </a:lnSpc>
              <a:buSzPct val="100000"/>
              <a:buChar char="•"/>
            </a:pPr>
            <a:r>
              <a:rPr lang="en-US" sz="1700" b="1" dirty="0" err="1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localStorage</a:t>
            </a:r>
            <a:r>
              <a:rPr lang="en-US" sz="170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</a:t>
            </a:r>
            <a:r>
              <a:rPr lang="en-US" sz="170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- Session management</a:t>
            </a:r>
          </a:p>
          <a:p>
            <a:pPr marL="342866" indent="-342866">
              <a:lnSpc>
                <a:spcPts val="2850"/>
              </a:lnSpc>
              <a:buSzPct val="100000"/>
              <a:buChar char="•"/>
            </a:pPr>
            <a:r>
              <a:rPr lang="en-US" sz="1700" b="1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Input</a:t>
            </a:r>
            <a:r>
              <a:rPr lang="en-US" sz="170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 - Voice and </a:t>
            </a:r>
            <a:r>
              <a:rPr lang="en-US" sz="170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t</a:t>
            </a:r>
            <a:r>
              <a:rPr lang="en-US" sz="170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ext input</a:t>
            </a:r>
            <a:endParaRPr lang="en-US" sz="1700" b="1" dirty="0"/>
          </a:p>
        </p:txBody>
      </p:sp>
      <p:sp>
        <p:nvSpPr>
          <p:cNvPr id="9" name="Text 6"/>
          <p:cNvSpPr/>
          <p:nvPr/>
        </p:nvSpPr>
        <p:spPr>
          <a:xfrm>
            <a:off x="7599523" y="504753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en-US" sz="2100" dirty="0">
                <a:solidFill>
                  <a:srgbClr val="F2F0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Architecture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7599524" y="5628680"/>
            <a:ext cx="6244709" cy="8051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866" indent="-342866">
              <a:lnSpc>
                <a:spcPts val="2850"/>
              </a:lnSpc>
              <a:buSzPct val="100000"/>
              <a:buChar char="•"/>
            </a:pPr>
            <a:r>
              <a:rPr lang="en-US" sz="170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Custom multi-agent orchestration</a:t>
            </a:r>
            <a:endParaRPr lang="en-US" sz="1700" dirty="0"/>
          </a:p>
          <a:p>
            <a:pPr marL="342866" indent="-342866">
              <a:lnSpc>
                <a:spcPts val="2850"/>
              </a:lnSpc>
              <a:buSzPct val="100000"/>
              <a:buChar char="•"/>
            </a:pPr>
            <a:r>
              <a:rPr lang="en-US" sz="170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Memory-augmented </a:t>
            </a:r>
            <a:r>
              <a:rPr lang="en-US" sz="170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reasoning</a:t>
            </a:r>
          </a:p>
        </p:txBody>
      </p:sp>
      <p:pic>
        <p:nvPicPr>
          <p:cNvPr id="11" name="Picture 10" descr="A close up of a logo&#10;&#10;AI-generated content may be incorrect.">
            <a:extLst>
              <a:ext uri="{FF2B5EF4-FFF2-40B4-BE49-F238E27FC236}">
                <a16:creationId xmlns="" xmlns:a16="http://schemas.microsoft.com/office/drawing/2014/main" id="{43194B8D-F7C3-89D1-4003-BFD64C9817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91302" y="7448442"/>
            <a:ext cx="2295845" cy="7811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3" y="766646"/>
            <a:ext cx="640627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sz="4400" dirty="0">
                <a:solidFill>
                  <a:srgbClr val="F2F0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Future Enhancements</a:t>
            </a:r>
            <a:endParaRPr lang="en-US" sz="44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3" y="2191227"/>
            <a:ext cx="113349" cy="1133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33954" y="2070736"/>
            <a:ext cx="3991570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en-US" sz="2100" dirty="0">
                <a:solidFill>
                  <a:srgbClr val="DCD7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Vector Database Integration</a:t>
            </a:r>
            <a:endParaRPr lang="en-US" sz="2100" dirty="0"/>
          </a:p>
        </p:txBody>
      </p:sp>
      <p:sp>
        <p:nvSpPr>
          <p:cNvPr id="5" name="Text 2"/>
          <p:cNvSpPr/>
          <p:nvPr/>
        </p:nvSpPr>
        <p:spPr>
          <a:xfrm>
            <a:off x="1133952" y="2651882"/>
            <a:ext cx="726412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 sz="170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Enhanced semantic search and memory retrieval</a:t>
            </a:r>
            <a:endParaRPr lang="en-US" sz="17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3" y="3588903"/>
            <a:ext cx="113349" cy="11334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133951" y="3468412"/>
            <a:ext cx="2900958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en-US" sz="2100" dirty="0">
                <a:solidFill>
                  <a:srgbClr val="DCD7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PDF Report Support</a:t>
            </a:r>
            <a:endParaRPr lang="en-US" sz="2100" dirty="0"/>
          </a:p>
        </p:txBody>
      </p:sp>
      <p:sp>
        <p:nvSpPr>
          <p:cNvPr id="8" name="Text 4"/>
          <p:cNvSpPr/>
          <p:nvPr/>
        </p:nvSpPr>
        <p:spPr>
          <a:xfrm>
            <a:off x="1133952" y="4049557"/>
            <a:ext cx="726412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 sz="170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Expand beyond image-based OCR</a:t>
            </a:r>
            <a:endParaRPr lang="en-US" sz="17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3" y="4986578"/>
            <a:ext cx="113349" cy="11334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33954" y="4866086"/>
            <a:ext cx="3710821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en-US" sz="2100" dirty="0">
                <a:solidFill>
                  <a:srgbClr val="DCD7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Clinical Evaluation Metrics</a:t>
            </a:r>
            <a:endParaRPr lang="en-US" sz="2100" dirty="0"/>
          </a:p>
        </p:txBody>
      </p:sp>
      <p:sp>
        <p:nvSpPr>
          <p:cNvPr id="11" name="Text 6"/>
          <p:cNvSpPr/>
          <p:nvPr/>
        </p:nvSpPr>
        <p:spPr>
          <a:xfrm>
            <a:off x="1133952" y="5447230"/>
            <a:ext cx="726412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 sz="170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Structured testing and model comparison</a:t>
            </a:r>
            <a:endParaRPr lang="en-US" sz="17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3" y="6384250"/>
            <a:ext cx="113349" cy="11334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133954" y="6263759"/>
            <a:ext cx="3442098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en-US" sz="2100" dirty="0">
                <a:solidFill>
                  <a:srgbClr val="DCD7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Production Deployment</a:t>
            </a:r>
            <a:endParaRPr lang="en-US" sz="2100" dirty="0"/>
          </a:p>
        </p:txBody>
      </p:sp>
      <p:sp>
        <p:nvSpPr>
          <p:cNvPr id="14" name="Text 8"/>
          <p:cNvSpPr/>
          <p:nvPr/>
        </p:nvSpPr>
        <p:spPr>
          <a:xfrm>
            <a:off x="1133952" y="6844905"/>
            <a:ext cx="726412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 sz="170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Docker containerization and scalable infrastructure</a:t>
            </a:r>
            <a:endParaRPr lang="en-US" sz="1700" dirty="0"/>
          </a:p>
        </p:txBody>
      </p:sp>
      <p:pic>
        <p:nvPicPr>
          <p:cNvPr id="18" name="Picture 17" descr="A close up of a logo&#10;&#10;AI-generated content may be incorrect.">
            <a:extLst>
              <a:ext uri="{FF2B5EF4-FFF2-40B4-BE49-F238E27FC236}">
                <a16:creationId xmlns="" xmlns:a16="http://schemas.microsoft.com/office/drawing/2014/main" id="{48DAC7D4-41B9-043C-71EF-DB0FAE9E0B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34558" y="7448442"/>
            <a:ext cx="2295845" cy="7811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="" xmlns:a16="http://schemas.microsoft.com/office/drawing/2014/main" id="{112EEF91-64E1-9186-D28C-10FAF3B60C9A}"/>
              </a:ext>
            </a:extLst>
          </p:cNvPr>
          <p:cNvSpPr/>
          <p:nvPr/>
        </p:nvSpPr>
        <p:spPr>
          <a:xfrm>
            <a:off x="3258205" y="3383280"/>
            <a:ext cx="8113990" cy="731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5550"/>
              </a:lnSpc>
            </a:pPr>
            <a:r>
              <a:rPr lang="en-US" sz="8000" dirty="0">
                <a:solidFill>
                  <a:srgbClr val="F2F0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 YOU</a:t>
            </a:r>
            <a:endParaRPr lang="en-US" sz="8000" dirty="0"/>
          </a:p>
        </p:txBody>
      </p:sp>
      <p:pic>
        <p:nvPicPr>
          <p:cNvPr id="4" name="Picture 3" descr="A close up of a logo&#10;&#10;AI-generated content may be incorrect.">
            <a:extLst>
              <a:ext uri="{FF2B5EF4-FFF2-40B4-BE49-F238E27FC236}">
                <a16:creationId xmlns="" xmlns:a16="http://schemas.microsoft.com/office/drawing/2014/main" id="{CB437485-7D72-C9EA-9F97-471A2B71ED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4878" y="7448552"/>
            <a:ext cx="2295525" cy="78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549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</TotalTime>
  <Words>294</Words>
  <Application>Microsoft Office PowerPoint</Application>
  <PresentationFormat>Custom</PresentationFormat>
  <Paragraphs>65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Heebo Light</vt:lpstr>
      <vt:lpstr>Calibri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lastModifiedBy>OM</cp:lastModifiedBy>
  <cp:revision>12</cp:revision>
  <dcterms:created xsi:type="dcterms:W3CDTF">2026-02-27T05:51:41Z</dcterms:created>
  <dcterms:modified xsi:type="dcterms:W3CDTF">2026-03-08T08:34:25Z</dcterms:modified>
</cp:coreProperties>
</file>